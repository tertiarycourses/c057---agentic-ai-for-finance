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Agentic AI for Finance</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C057</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29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TRAINER PROFILE · C057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Course Trainer Profiles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4187952"/>
          </a:xfrm>
          <a:prstGeom prst="rect">
            <a:avLst/>
          </a:prstGeom>
          <a:noFill/>
        </p:spPr>
        <p:txBody>
          <a:bodyPr wrap="square" anchor="ctr">
            <a:spAutoFit/>
          </a:bodyPr>
          <a:lstStyle/>
          <a:p>
            <a:pPr algn="l">
              <a:spcAft>
                <a:spcPts val="300"/>
              </a:spcAft>
            </a:pPr>
            <a:r>
              <a:rPr sz="1700" b="1">
                <a:solidFill>
                  <a:srgbClr val="161B26"/>
                </a:solidFill>
                <a:latin typeface="Arial"/>
              </a:rPr>
              <a:t>Assigned Tertiary Infotech Academy Trainer</a:t>
            </a:r>
          </a:p>
          <a:p>
            <a:pPr algn="l">
              <a:spcAft>
                <a:spcPts val="300"/>
              </a:spcAft>
            </a:pPr>
            <a:r>
              <a:rPr sz="1300" b="0">
                <a:solidFill>
                  <a:srgbClr val="5B6372"/>
                </a:solidFill>
                <a:latin typeface="Arial"/>
              </a:rPr>
              <a:t>Finance-automation and agentic-AI facilitator who guides control-first design, deterministic verification, evidence-backed analysis and hands-on application to the synthetic Northstar Components scenario.</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MATERIALS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Access Course Materials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C057 course page or the trainer-supplied Drive folder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courseware links for this course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Learner Guide and Lesson Plan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Activities folder for all 9 labs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 files together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200" b="1">
                <a:solidFill>
                  <a:srgbClr val="1F6FEB"/>
                </a:solidFill>
                <a:latin typeface="Arial"/>
              </a:rPr>
              <a:t>Course page:  https://www.tertiarycourses.com.sg/agentic-ai-for-finance.html</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Lesson Plan — 2 Days, 15 instructional hours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Course sequence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Design and Automate — build controlled finance-agent foundations and workflows</a:t>
            </a:r>
          </a:p>
          <a:p>
            <a:pPr>
              <a:spcAft>
                <a:spcPts val="1000"/>
              </a:spcAft>
            </a:pPr>
            <a:r>
              <a:rPr sz="1400" b="0">
                <a:solidFill>
                  <a:srgbClr val="5B6372"/>
                </a:solidFill>
                <a:latin typeface="Arial"/>
              </a:rPr>
              <a:t>–  Topic 1: Getting Started with Agentic AI for Finance (Labs 1–2)</a:t>
            </a:r>
          </a:p>
          <a:p>
            <a:pPr>
              <a:spcAft>
                <a:spcPts val="1000"/>
              </a:spcAft>
            </a:pPr>
            <a:r>
              <a:rPr sz="1400" b="0">
                <a:solidFill>
                  <a:srgbClr val="5B6372"/>
                </a:solidFill>
                <a:latin typeface="Arial"/>
              </a:rPr>
              <a:t>–  Topic 2: Automating Financial Workflows with AI Agents (Labs 3–5)</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Analyse and Govern — produce evidence-backed decisions and a deployable operating model</a:t>
            </a:r>
          </a:p>
          <a:p>
            <a:pPr>
              <a:spcAft>
                <a:spcPts val="1000"/>
              </a:spcAft>
            </a:pPr>
            <a:r>
              <a:rPr sz="1400" b="0">
                <a:solidFill>
                  <a:srgbClr val="5B6372"/>
                </a:solidFill>
                <a:latin typeface="Arial"/>
              </a:rPr>
              <a:t>–  Topic 3: Analysis and Insights with AI Agents (Labs 6–7)</a:t>
            </a:r>
          </a:p>
          <a:p>
            <a:pPr>
              <a:spcAft>
                <a:spcPts val="1000"/>
              </a:spcAft>
            </a:pPr>
            <a:r>
              <a:rPr sz="1400" b="0">
                <a:solidFill>
                  <a:srgbClr val="5B6372"/>
                </a:solidFill>
                <a:latin typeface="Arial"/>
              </a:rPr>
              <a:t>–  Topic 4: Deploying and Governing Financial AI Agents (Labs 8–9)</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 am–6:30 pm (1-hour lunch; two 15-minute tea breaks; 7.5 instructional hours)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Design the Agent</a:t>
            </a:r>
          </a:p>
          <a:p>
            <a:pPr algn="l">
              <a:spcAft>
                <a:spcPts val="300"/>
              </a:spcAft>
            </a:pPr>
            <a:r>
              <a:rPr sz="1300" b="0">
                <a:solidFill>
                  <a:srgbClr val="5B6372"/>
                </a:solidFill>
                <a:latin typeface="Arial"/>
              </a:rPr>
              <a:t>Design a bounded finance agent with clear instructions, approved data connections, tool permissions and human review points.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Automate Workflows</a:t>
            </a:r>
          </a:p>
          <a:p>
            <a:pPr algn="l">
              <a:spcAft>
                <a:spcPts val="300"/>
              </a:spcAft>
            </a:pPr>
            <a:r>
              <a:rPr sz="1300" b="0">
                <a:solidFill>
                  <a:srgbClr val="5B6372"/>
                </a:solidFill>
                <a:latin typeface="Arial"/>
              </a:rPr>
              <a:t>Automate reporting, reconciliation, forecasting and invoice workflows while preserving deterministic checks and human approval.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Analyse &amp; Explain</a:t>
            </a:r>
          </a:p>
          <a:p>
            <a:pPr algn="l">
              <a:spcAft>
                <a:spcPts val="300"/>
              </a:spcAft>
            </a:pPr>
            <a:r>
              <a:rPr sz="1300" b="0">
                <a:solidFill>
                  <a:srgbClr val="5B6372"/>
                </a:solidFill>
                <a:latin typeface="Arial"/>
              </a:rPr>
              <a:t>Produce traceable financial analysis, scenarios, recommendations and visualisations from verified data.</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Deploy &amp; Govern</a:t>
            </a:r>
          </a:p>
          <a:p>
            <a:pPr algn="l">
              <a:spcAft>
                <a:spcPts val="300"/>
              </a:spcAft>
            </a:pPr>
            <a:r>
              <a:rPr sz="1300" b="0">
                <a:solidFill>
                  <a:srgbClr val="5B6372"/>
                </a:solidFill>
                <a:latin typeface="Arial"/>
              </a:rPr>
              <a:t>Deploy and govern finance agents with security, auditability, evaluation, monitoring and scalable operating controls.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Controlled Finance-Agent System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Ground</a:t>
            </a:r>
          </a:p>
          <a:p>
            <a:pPr algn="l">
              <a:spcAft>
                <a:spcPts val="300"/>
              </a:spcAft>
            </a:pPr>
            <a:r>
              <a:rPr sz="1300" b="0">
                <a:solidFill>
                  <a:srgbClr val="5B6372"/>
                </a:solidFill>
                <a:latin typeface="Arial"/>
              </a:rPr>
              <a:t>Use approved, versioned finance evidence with explicit grain, period, units and ownership.</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Calculate</a:t>
            </a:r>
          </a:p>
          <a:p>
            <a:pPr algn="l">
              <a:spcAft>
                <a:spcPts val="300"/>
              </a:spcAft>
            </a:pPr>
            <a:r>
              <a:rPr sz="1300" b="0">
                <a:solidFill>
                  <a:srgbClr val="5B6372"/>
                </a:solidFill>
                <a:latin typeface="Arial"/>
              </a:rPr>
              <a:t>Keep arithmetic, matching, thresholds and write rules deterministic and independently testable.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Reason</a:t>
            </a:r>
          </a:p>
          <a:p>
            <a:pPr algn="l">
              <a:spcAft>
                <a:spcPts val="300"/>
              </a:spcAft>
            </a:pPr>
            <a:r>
              <a:rPr sz="1300" b="0">
                <a:solidFill>
                  <a:srgbClr val="5B6372"/>
                </a:solidFill>
                <a:latin typeface="Arial"/>
              </a:rPr>
              <a:t>Use the model to plan, classify exceptions, challenge assumptions and draft explanations.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Approve</a:t>
            </a:r>
          </a:p>
          <a:p>
            <a:pPr algn="l">
              <a:spcAft>
                <a:spcPts val="300"/>
              </a:spcAft>
            </a:pPr>
            <a:r>
              <a:rPr sz="1300" b="0">
                <a:solidFill>
                  <a:srgbClr val="5B6372"/>
                </a:solidFill>
                <a:latin typeface="Arial"/>
              </a:rPr>
              <a:t>Route material decisions and irreversible actions to an authorised human with visible evidence.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One Agent Run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Receive</a:t>
            </a:r>
          </a:p>
          <a:p>
            <a:pPr algn="l">
              <a:spcAft>
                <a:spcPts val="300"/>
              </a:spcAft>
            </a:pPr>
            <a:r>
              <a:rPr sz="1200" b="0">
                <a:solidFill>
                  <a:srgbClr val="5B6372"/>
                </a:solidFill>
                <a:latin typeface="Arial"/>
              </a:rPr>
              <a:t>Validate goal, identity, inputs and permission.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Plan</a:t>
            </a:r>
          </a:p>
          <a:p>
            <a:pPr algn="l">
              <a:spcAft>
                <a:spcPts val="300"/>
              </a:spcAft>
            </a:pPr>
            <a:r>
              <a:rPr sz="1200" b="0">
                <a:solidFill>
                  <a:srgbClr val="5B6372"/>
                </a:solidFill>
                <a:latin typeface="Arial"/>
              </a:rPr>
              <a:t>Select the next bounded step and approved tool.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a:t>
            </a:r>
          </a:p>
          <a:p>
            <a:pPr algn="l">
              <a:spcAft>
                <a:spcPts val="300"/>
              </a:spcAft>
            </a:pPr>
            <a:r>
              <a:rPr sz="1200" b="0">
                <a:solidFill>
                  <a:srgbClr val="5B6372"/>
                </a:solidFill>
                <a:latin typeface="Arial"/>
              </a:rPr>
              <a:t>Read, calculate, classify or draft within limits.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Observe</a:t>
            </a:r>
          </a:p>
          <a:p>
            <a:pPr algn="l">
              <a:spcAft>
                <a:spcPts val="300"/>
              </a:spcAft>
            </a:pPr>
            <a:r>
              <a:rPr sz="1200" b="0">
                <a:solidFill>
                  <a:srgbClr val="5B6372"/>
                </a:solidFill>
                <a:latin typeface="Arial"/>
              </a:rPr>
              <a:t>Check tool result, totals, exceptions and stop conditions.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Review</a:t>
            </a:r>
          </a:p>
          <a:p>
            <a:pPr algn="l">
              <a:spcAft>
                <a:spcPts val="300"/>
              </a:spcAft>
            </a:pPr>
            <a:r>
              <a:rPr sz="1200" b="0">
                <a:solidFill>
                  <a:srgbClr val="5B6372"/>
                </a:solidFill>
                <a:latin typeface="Arial"/>
              </a:rPr>
              <a:t>Approve, correct, escalate or close with a complete run record.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COURSE OPERATING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Let the model manage ambiguity; let controls own financial truth.</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material number is sourced or calculated, every exception is owned and every consequential action is approved.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Will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Agent Foundation</a:t>
            </a:r>
          </a:p>
          <a:p>
            <a:pPr algn="l">
              <a:spcAft>
                <a:spcPts val="300"/>
              </a:spcAft>
            </a:pPr>
            <a:r>
              <a:rPr sz="1200" b="0">
                <a:solidFill>
                  <a:srgbClr val="5B6372"/>
                </a:solidFill>
                <a:latin typeface="Arial"/>
              </a:rPr>
              <a:t>use-case and tool-risk register · finance prompt and data contracts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Workflow Portfolio</a:t>
            </a:r>
          </a:p>
          <a:p>
            <a:pPr algn="l">
              <a:spcAft>
                <a:spcPts val="300"/>
              </a:spcAft>
            </a:pPr>
            <a:r>
              <a:rPr sz="1200" b="0">
                <a:solidFill>
                  <a:srgbClr val="5B6372"/>
                </a:solidFill>
                <a:latin typeface="Arial"/>
              </a:rPr>
              <a:t>reconciliation and close brief · forecast and invoice exception routes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Decision Pack</a:t>
            </a:r>
          </a:p>
          <a:p>
            <a:pPr algn="l">
              <a:spcAft>
                <a:spcPts val="300"/>
              </a:spcAft>
            </a:pPr>
            <a:r>
              <a:rPr sz="1200" b="0">
                <a:solidFill>
                  <a:srgbClr val="5B6372"/>
                </a:solidFill>
                <a:latin typeface="Arial"/>
              </a:rPr>
              <a:t>verified financial analysis · scenario insight and chart specification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Operating Model</a:t>
            </a:r>
          </a:p>
          <a:p>
            <a:pPr algn="l">
              <a:spcAft>
                <a:spcPts val="300"/>
              </a:spcAft>
            </a:pPr>
            <a:r>
              <a:rPr sz="1200" b="0">
                <a:solidFill>
                  <a:srgbClr val="5B6372"/>
                </a:solidFill>
                <a:latin typeface="Arial"/>
              </a:rPr>
              <a:t>security and evidence controls · evaluation, monitoring and deployment plan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Progresses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Open the approved synthetic Northstar Finance checkpoint.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Apply a bounded prompt or deterministic finance rule.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Separate source facts, calculations, model judgement and human decisions.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Test the output against exact control totals or observable routing rules.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Save the run evidence and the next rejoin checkpoint.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CONCEPT DEEP DIVE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Agent, Assistant or Automation?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Assistant</a:t>
            </a:r>
          </a:p>
          <a:p>
            <a:pPr algn="l">
              <a:spcAft>
                <a:spcPts val="300"/>
              </a:spcAft>
            </a:pPr>
            <a:r>
              <a:rPr sz="1200" b="0">
                <a:solidFill>
                  <a:srgbClr val="5B6372"/>
                </a:solidFill>
                <a:latin typeface="Arial"/>
              </a:rPr>
              <a:t>A person chooses each request and decides what to do with the answer.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Automation</a:t>
            </a:r>
          </a:p>
          <a:p>
            <a:pPr algn="l">
              <a:spcAft>
                <a:spcPts val="300"/>
              </a:spcAft>
            </a:pPr>
            <a:r>
              <a:rPr sz="1200" b="0">
                <a:solidFill>
                  <a:srgbClr val="5B6372"/>
                </a:solidFill>
                <a:latin typeface="Arial"/>
              </a:rPr>
              <a:t>Fixed rules execute a known sequence with predictable branches.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Agent</a:t>
            </a:r>
          </a:p>
          <a:p>
            <a:pPr algn="l">
              <a:spcAft>
                <a:spcPts val="300"/>
              </a:spcAft>
            </a:pPr>
            <a:r>
              <a:rPr sz="1200" b="0">
                <a:solidFill>
                  <a:srgbClr val="5B6372"/>
                </a:solidFill>
                <a:latin typeface="Arial"/>
              </a:rPr>
              <a:t>A model chooses among approved next actions inside a bounded workflow.</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Control rule</a:t>
            </a:r>
          </a:p>
          <a:p>
            <a:pPr algn="l">
              <a:spcAft>
                <a:spcPts val="300"/>
              </a:spcAft>
            </a:pPr>
            <a:r>
              <a:rPr sz="1200" b="0">
                <a:solidFill>
                  <a:srgbClr val="5B6372"/>
                </a:solidFill>
                <a:latin typeface="Arial"/>
              </a:rPr>
              <a:t>Use the least autonomous pattern that meets the business need.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CONCEPT DEEP DIVE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Finance Truth Stack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System of record</a:t>
            </a:r>
          </a:p>
          <a:p>
            <a:pPr algn="l">
              <a:spcAft>
                <a:spcPts val="300"/>
              </a:spcAft>
            </a:pPr>
            <a:r>
              <a:rPr sz="1200" b="0">
                <a:solidFill>
                  <a:srgbClr val="5B6372"/>
                </a:solidFill>
                <a:latin typeface="Arial"/>
              </a:rPr>
              <a:t>Authoritative ledger, document or approved business source.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Deterministic layer</a:t>
            </a:r>
          </a:p>
          <a:p>
            <a:pPr algn="l">
              <a:spcAft>
                <a:spcPts val="300"/>
              </a:spcAft>
            </a:pPr>
            <a:r>
              <a:rPr sz="1200" b="0">
                <a:solidFill>
                  <a:srgbClr val="5B6372"/>
                </a:solidFill>
                <a:latin typeface="Arial"/>
              </a:rPr>
              <a:t>Queries, formulas, matching rules, thresholds and validations.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Model layer</a:t>
            </a:r>
          </a:p>
          <a:p>
            <a:pPr algn="l">
              <a:spcAft>
                <a:spcPts val="300"/>
              </a:spcAft>
            </a:pPr>
            <a:r>
              <a:rPr sz="1200" b="0">
                <a:solidFill>
                  <a:srgbClr val="5B6372"/>
                </a:solidFill>
                <a:latin typeface="Arial"/>
              </a:rPr>
              <a:t>Planning, classification, drafting, critique and exception explanation.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Decision layer</a:t>
            </a:r>
          </a:p>
          <a:p>
            <a:pPr algn="l">
              <a:spcAft>
                <a:spcPts val="300"/>
              </a:spcAft>
            </a:pPr>
            <a:r>
              <a:rPr sz="1200" b="0">
                <a:solidFill>
                  <a:srgbClr val="5B6372"/>
                </a:solidFill>
                <a:latin typeface="Arial"/>
              </a:rPr>
              <a:t>Named human authority, rationale and controlled record update.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CONCEPT DEEP DIVE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Four Permission Questions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Read what?</a:t>
            </a:r>
          </a:p>
          <a:p>
            <a:pPr algn="l">
              <a:spcAft>
                <a:spcPts val="300"/>
              </a:spcAft>
            </a:pPr>
            <a:r>
              <a:rPr sz="1200" b="0">
                <a:solidFill>
                  <a:srgbClr val="5B6372"/>
                </a:solidFill>
                <a:latin typeface="Arial"/>
              </a:rPr>
              <a:t>Specific data classes, rows, fields, periods and documents.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Act how?</a:t>
            </a:r>
          </a:p>
          <a:p>
            <a:pPr algn="l">
              <a:spcAft>
                <a:spcPts val="300"/>
              </a:spcAft>
            </a:pPr>
            <a:r>
              <a:rPr sz="1200" b="0">
                <a:solidFill>
                  <a:srgbClr val="5B6372"/>
                </a:solidFill>
                <a:latin typeface="Arial"/>
              </a:rPr>
              <a:t>Allowed tools, parameters, destinations and financial limits.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Stop when?</a:t>
            </a:r>
          </a:p>
          <a:p>
            <a:pPr algn="l">
              <a:spcAft>
                <a:spcPts val="300"/>
              </a:spcAft>
            </a:pPr>
            <a:r>
              <a:rPr sz="1200" b="0">
                <a:solidFill>
                  <a:srgbClr val="5B6372"/>
                </a:solidFill>
                <a:latin typeface="Arial"/>
              </a:rPr>
              <a:t>Completion, uncertainty, failure, budget and risk thresholds.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Who approves?</a:t>
            </a:r>
          </a:p>
          <a:p>
            <a:pPr algn="l">
              <a:spcAft>
                <a:spcPts val="300"/>
              </a:spcAft>
            </a:pPr>
            <a:r>
              <a:rPr sz="1200" b="0">
                <a:solidFill>
                  <a:srgbClr val="5B6372"/>
                </a:solidFill>
                <a:latin typeface="Arial"/>
              </a:rPr>
              <a:t>Role, evidence, segregation, response time and fallback.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Getting Started with Agentic AI for Finance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agent foundations · tools and platforms · finance prompting · safe data connections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Day 1 morning · 2 connected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Agentic AI for Finance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Agentic workflow</a:t>
            </a:r>
          </a:p>
          <a:p>
            <a:pPr algn="l">
              <a:spcAft>
                <a:spcPts val="300"/>
              </a:spcAft>
            </a:pPr>
            <a:r>
              <a:rPr sz="1200" b="0">
                <a:solidFill>
                  <a:srgbClr val="5B6372"/>
                </a:solidFill>
                <a:latin typeface="Arial"/>
              </a:rPr>
              <a:t>A model uses instructions and tools in a bounded loop to pursue a goal, observe results and decide the next step.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Finance control boundary</a:t>
            </a:r>
          </a:p>
          <a:p>
            <a:pPr algn="l">
              <a:spcAft>
                <a:spcPts val="300"/>
              </a:spcAft>
            </a:pPr>
            <a:r>
              <a:rPr sz="1200" b="0">
                <a:solidFill>
                  <a:srgbClr val="5B6372"/>
                </a:solidFill>
                <a:latin typeface="Arial"/>
              </a:rPr>
              <a:t>Define permitted data, actions, limits, owners, stop conditions and evidence before the first run.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Tool architecture</a:t>
            </a:r>
          </a:p>
          <a:p>
            <a:pPr algn="l">
              <a:spcAft>
                <a:spcPts val="300"/>
              </a:spcAft>
            </a:pPr>
            <a:r>
              <a:rPr sz="1200" b="0">
                <a:solidFill>
                  <a:srgbClr val="5B6372"/>
                </a:solidFill>
                <a:latin typeface="Arial"/>
              </a:rPr>
              <a:t>Separate read tools, calculation tools and action tools; grant only the access required for the task.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Finance prompt contract</a:t>
            </a:r>
          </a:p>
          <a:p>
            <a:pPr algn="l">
              <a:spcAft>
                <a:spcPts val="300"/>
              </a:spcAft>
            </a:pPr>
            <a:r>
              <a:rPr sz="1200" b="0">
                <a:solidFill>
                  <a:srgbClr val="5B6372"/>
                </a:solidFill>
                <a:latin typeface="Arial"/>
              </a:rPr>
              <a:t>State the source boundary, method, output schema, acceptance checks, uncertainty rules and reviewer.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contract</a:t>
            </a:r>
          </a:p>
          <a:p>
            <a:pPr algn="l">
              <a:spcAft>
                <a:spcPts val="300"/>
              </a:spcAft>
            </a:pPr>
            <a:r>
              <a:rPr sz="1200" b="0">
                <a:solidFill>
                  <a:srgbClr val="5B6372"/>
                </a:solidFill>
                <a:latin typeface="Arial"/>
              </a:rPr>
              <a:t>Document grain, fields, units, period, ownership, quality checks, lineage and refresh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Deterministic truth</a:t>
            </a:r>
          </a:p>
          <a:p>
            <a:pPr algn="l">
              <a:spcAft>
                <a:spcPts val="300"/>
              </a:spcAft>
            </a:pPr>
            <a:r>
              <a:rPr sz="1200" b="0">
                <a:solidFill>
                  <a:srgbClr val="5B6372"/>
                </a:solidFill>
                <a:latin typeface="Arial"/>
              </a:rPr>
              <a:t>Use formulas and source-system rules for arithmetic, matching and posting; use the model for language and exceptions.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Introduction to Agentic AI in Finance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AI agent is a system in which a model controls part of a multi-step workflow, selects approved tools, observes results and continues until it reaches a defined completion or stop condition. A chatbot answers a turn; a deterministic automation follows fixed rules; an agent chooses among bounded next actions.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Finance work mixes repeatable calculations with ambiguous exceptions and narrative judgement. Agents can coordinate those steps, but fluent output must never replace ledgers, policies, formulas or accountable decisions. The useful design question is not how autonomous the system can be, but which decisions it may make safely.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Introduction to Agentic AI in Finance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one measurable goal, an authorised user and an explicit completion condition.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Provide instructions, approved source data and narrowly described tools.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a plan–act–observe loop with maximum turns, timeouts and failure handling.</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Validate figures and high-impact actions with deterministic rules and named human review.</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Persist the inputs, tool calls, outputs, approvals and final status as the run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Introduction to Agentic AI in Finance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Goal: prepare a draft month-end variance brief from the approved June extract.</a:t>
            </a:r>
          </a:p>
          <a:p>
            <a:pPr>
              <a:spcAft>
                <a:spcPts val="1000"/>
              </a:spcAft>
            </a:pPr>
            <a:r>
              <a:rPr sz="1600" b="0">
                <a:solidFill>
                  <a:srgbClr val="161B26"/>
                </a:solidFill>
                <a:latin typeface="Arial"/>
              </a:rPr>
              <a:t>•  The agent reads the extract, invokes a calculation step, requests clarification for an unmapped account and drafts commentary.</a:t>
            </a:r>
          </a:p>
          <a:p>
            <a:pPr>
              <a:spcAft>
                <a:spcPts val="1000"/>
              </a:spcAft>
            </a:pPr>
            <a:r>
              <a:rPr sz="1600" b="0">
                <a:solidFill>
                  <a:srgbClr val="161B26"/>
                </a:solidFill>
                <a:latin typeface="Arial"/>
              </a:rPr>
              <a:t>•  The finance manager checks the figures and approves the brief; the agent has no permission to post a journal or send externally.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workflow has multiple steps, exceptions or unstructured inputs that fixed rules alone handle poorly.</a:t>
            </a:r>
          </a:p>
          <a:p>
            <a:pPr>
              <a:spcAft>
                <a:spcPts val="1000"/>
              </a:spcAft>
            </a:pPr>
            <a:r>
              <a:rPr sz="1400" b="0">
                <a:solidFill>
                  <a:srgbClr val="5B6372"/>
                </a:solidFill>
                <a:latin typeface="Arial"/>
              </a:rPr>
              <a:t>–  A reliable source boundary, measurable checks and a human owner can be defined.</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spreadsheet formula, database query or fixed rule completes the task more simply and predictably.</a:t>
            </a:r>
          </a:p>
          <a:p>
            <a:pPr>
              <a:spcAft>
                <a:spcPts val="1000"/>
              </a:spcAft>
            </a:pPr>
            <a:r>
              <a:rPr sz="1400" b="0">
                <a:solidFill>
                  <a:srgbClr val="5B6372"/>
                </a:solidFill>
                <a:latin typeface="Arial"/>
              </a:rPr>
              <a:t>–  The agent would make an irreversible financial commitment without an authorised approval gate.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Introduction to Agentic AI in Finance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Bounded</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Purpose, inputs, tools, limits, exit conditions and fallback are explicit.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Grounded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material figure traces to an approved source or deterministic calculation.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Owned</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named role reviews exceptions and remains accountable for the final decision.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Popular AI Agent Tools and Platforms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Agent platforms range from browser assistants and configurable workspace agents to low-code workflow builders and software development kits. All combine a model, instructions and tools; they differ in integration depth, observability, deployment control, cost and the skill needed to operate them.</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Choosing a platform before defining the workflow often produces an expensive demonstration with weak controls. Finance teams should first classify the data, actions and evidence required, then select the least complex platform that can satisfy security, integration, evaluation and operating needs.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Popular AI Agent Tools and Platforms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a browser assistant for supervised analysis of approved files and prompt prototypes.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a configurable workspace agent when reusable instructions and approved knowledge sources are sufficient.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low-code orchestration for event triggers, connectors, approvals and business-user maintenance.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an SDK when custom tools, version control, test automation, telemetry or deployment isolation are required.</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Start with one agent; split responsibilities only when instructions or tool choice remain unmanageably complex.</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Popular AI Agent Tools and Platforms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finance analyst prototypes variance commentary in an approved browser assistant with a synthetic CSV.</a:t>
            </a:r>
          </a:p>
          <a:p>
            <a:pPr>
              <a:spcAft>
                <a:spcPts val="1000"/>
              </a:spcAft>
            </a:pPr>
            <a:r>
              <a:rPr sz="1600" b="0">
                <a:solidFill>
                  <a:srgbClr val="161B26"/>
                </a:solidFill>
                <a:latin typeface="Arial"/>
              </a:rPr>
              <a:t>•  A process owner then maps the same prompt contract into a low-code flow with a read-only data connector and manager approval.</a:t>
            </a:r>
          </a:p>
          <a:p>
            <a:pPr>
              <a:spcAft>
                <a:spcPts val="1000"/>
              </a:spcAft>
            </a:pPr>
            <a:r>
              <a:rPr sz="1600" b="0">
                <a:solidFill>
                  <a:srgbClr val="161B26"/>
                </a:solidFill>
                <a:latin typeface="Arial"/>
              </a:rPr>
              <a:t>•  The engineering team uses an SDK only when the workflow needs custom identity, detailed tracing and controlled release gates.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Comparing implementation options against an already defined finance workflow and control matrix.</a:t>
            </a:r>
          </a:p>
          <a:p>
            <a:pPr>
              <a:spcAft>
                <a:spcPts val="1000"/>
              </a:spcAft>
            </a:pPr>
            <a:r>
              <a:rPr sz="1400" b="0">
                <a:solidFill>
                  <a:srgbClr val="5B6372"/>
                </a:solidFill>
                <a:latin typeface="Arial"/>
              </a:rPr>
              <a:t>–  A proof of value needs a clear path from supervised prototype to monitored operation.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Selecting a platform because it has the most connectors or appears most autonomous.</a:t>
            </a:r>
          </a:p>
          <a:p>
            <a:pPr>
              <a:spcAft>
                <a:spcPts val="1000"/>
              </a:spcAft>
            </a:pPr>
            <a:r>
              <a:rPr sz="1400" b="0">
                <a:solidFill>
                  <a:srgbClr val="5B6372"/>
                </a:solidFill>
                <a:latin typeface="Arial"/>
              </a:rPr>
              <a:t>–  Allowing a connector to inherit broad user permissions without a tool-by-tool risk review.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Popular AI Agent Tools and Platforms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Fit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Workflow complexity and control requirements drive the platform choice.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Visibility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Runs, tool calls, versions, failures and approvals can be inspected.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Portability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Instructions, schemas, tests and data contracts are not trapped in one interface.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Writing Effective Prompts for Finance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finance prompt is an operating contract for a model. It identifies the role and objective, delimits authorised evidence, specifies the method and tools, defines a machine-checkable output, states acceptance criteria and tells the model when to ask, stop or escalate.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vague request such as 'analyse the numbers' invites inconsistent calculations, unsupported causes and hidden assumptions. A structured prompt makes the evidence boundary and review process observable, so a useful draft can be reproduced and tested.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Writing Effective Prompts for Finance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C-L-E-A-R: Context, Ledger sources, Execution steps, Acceptance checks and Reviewer or escalation.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Place instructions before source material and delimit each source with a stable label.</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Require a fixed schema with separate fields for fact, calculation, assumption, limitation and recommended action.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Give examples for classifications that are easy to confuse, such as timing difference versus data error.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Require UNKNOWN and a clarification question when evidence is missing; never reward confident guessing.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Writing Effective Prompts for Finance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prompt names the June close, approved files and SGD units, then supplies the exact variance formula.</a:t>
            </a:r>
          </a:p>
          <a:p>
            <a:pPr>
              <a:spcAft>
                <a:spcPts val="1000"/>
              </a:spcAft>
            </a:pPr>
            <a:r>
              <a:rPr sz="1600" b="0">
                <a:solidFill>
                  <a:srgbClr val="161B26"/>
                </a:solidFill>
                <a:latin typeface="Arial"/>
              </a:rPr>
              <a:t>•  The output schema requires Account, Actual, Budget, Variance, Direction, Evidence and Reviewer_note.</a:t>
            </a:r>
          </a:p>
          <a:p>
            <a:pPr>
              <a:spcAft>
                <a:spcPts val="1000"/>
              </a:spcAft>
            </a:pPr>
            <a:r>
              <a:rPr sz="1600" b="0">
                <a:solidFill>
                  <a:srgbClr val="161B26"/>
                </a:solidFill>
                <a:latin typeface="Arial"/>
              </a:rPr>
              <a:t>•  An account without a budget mapping is returned as UNKNOWN and routed to the controller instead of being invented.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model must transform, explain, classify or critique financial information in a repeatable format.</a:t>
            </a:r>
          </a:p>
          <a:p>
            <a:pPr>
              <a:spcAft>
                <a:spcPts val="1000"/>
              </a:spcAft>
            </a:pPr>
            <a:r>
              <a:rPr sz="1400" b="0">
                <a:solidFill>
                  <a:srgbClr val="5B6372"/>
                </a:solidFill>
                <a:latin typeface="Arial"/>
              </a:rPr>
              <a:t>–  The output will be checked against source evidence and deterministic acceptance rules.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prompt contains secrets, personal data or restricted information not approved for the service.</a:t>
            </a:r>
          </a:p>
          <a:p>
            <a:pPr>
              <a:spcAft>
                <a:spcPts val="1000"/>
              </a:spcAft>
            </a:pPr>
            <a:r>
              <a:rPr sz="1400" b="0">
                <a:solidFill>
                  <a:srgbClr val="5B6372"/>
                </a:solidFill>
                <a:latin typeface="Arial"/>
              </a:rPr>
              <a:t>–  The model is asked to calculate totals without a deterministic reconciliation step.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Writing Effective Prompts for Finance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Specific</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Task, scope, units, period, schema and thresholds are explicit.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Testable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Acceptance checks can be evaluated without interpreting the prose.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Fail-safe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Missing evidence triggers UNKNOWN, clarification or escalation.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Connecting Agents to Financial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financial data connection is a governed interface to a defined dataset, not unrestricted access to a drive or ledger. Its contract records source owner, grain, schema, units, accounting period, refresh time, permitted use, quality rules, lineage and access mode.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Many apparent model failures are data failures: duplicate rows, mixed periods, stale extracts, mismatched currencies or unclear sign conventions. A read-only snapshot and manifest make the analysis reproducible and reduce the blast radius of prompt injection, accidental writes and over-broad access.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Connecting Agents to Financial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Classify the data and minimise fields before granting access.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Begin with a versioned read-only snapshot; add live retrieval only after tests are stable.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Document grain, keys, sign conventions, currency, period, timezone and authoritative owner.</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Validate row counts, uniqueness, completeness, control totals and cross-source reconciliations before model use.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Return source identifiers and timestamps with every retrieved record so outputs can preserve lineage.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Connecting Agents to Financial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agent receives a June general-ledger extract and a budget table through separate read-only tools.</a:t>
            </a:r>
          </a:p>
          <a:p>
            <a:pPr>
              <a:spcAft>
                <a:spcPts val="1000"/>
              </a:spcAft>
            </a:pPr>
            <a:r>
              <a:rPr sz="1600" b="0">
                <a:solidFill>
                  <a:srgbClr val="161B26"/>
                </a:solidFill>
                <a:latin typeface="Arial"/>
              </a:rPr>
              <a:t>•  A manifest records 30 June cut-off, SGD units, account grain and control totals; duplicate Journal_ID values fail ingestion.</a:t>
            </a:r>
          </a:p>
          <a:p>
            <a:pPr>
              <a:spcAft>
                <a:spcPts val="1000"/>
              </a:spcAft>
            </a:pPr>
            <a:r>
              <a:rPr sz="1600" b="0">
                <a:solidFill>
                  <a:srgbClr val="161B26"/>
                </a:solidFill>
                <a:latin typeface="Arial"/>
              </a:rPr>
              <a:t>•  The prompt references source labels rather than copying an entire finance drive into context.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agent needs repeatable access to structured finance data or approved documents.</a:t>
            </a:r>
          </a:p>
          <a:p>
            <a:pPr>
              <a:spcAft>
                <a:spcPts val="1000"/>
              </a:spcAft>
            </a:pPr>
            <a:r>
              <a:rPr sz="1400" b="0">
                <a:solidFill>
                  <a:srgbClr val="5B6372"/>
                </a:solidFill>
                <a:latin typeface="Arial"/>
              </a:rPr>
              <a:t>–  Data owners can define quality checks, permissions, retention and lineage.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connector exposes unrelated folders, credentials or write permissions.</a:t>
            </a:r>
          </a:p>
          <a:p>
            <a:pPr>
              <a:spcAft>
                <a:spcPts val="1000"/>
              </a:spcAft>
            </a:pPr>
            <a:r>
              <a:rPr sz="1400" b="0">
                <a:solidFill>
                  <a:srgbClr val="5B6372"/>
                </a:solidFill>
                <a:latin typeface="Arial"/>
              </a:rPr>
              <a:t>–  The source has no stable key, period, unit or owner and cannot be reconciled.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Connecting Agents to Financial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Minimal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Only necessary rows, fields and periods are exposed.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Reconciled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Control totals and key constraints pass before analysis.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Traceable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output can identify its source, version and retrieval time.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Getting Started with Agentic AI for Finance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Design the Finance Agent Charter and Prompt Contract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Connect and Profile Approved Financial Data</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Design the Finance Agent Charter and Prompt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select the monthly-close reporting use case from the supplied register and define what the agent may read, calculate and draft. You will separate deterministic controls from model judgement, specify stop conditions and create a reusable prompt contract that preserves finance ownership.</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01-foundation/finance-agent-charter.md, tool-risk-register.csv, prompt-contract.md and run-evidence/L01-tabletop-run.md for a read-only June close-report agent.</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Select the use case</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Bound the agent</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Rate the tools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Write the prompt</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approved AI assistant · agent-use-case-register.csv · data-dictionary.csv</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Design the Finance Agent Charter and Prompt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700" b="0">
                <a:solidFill>
                  <a:srgbClr val="161B26"/>
                </a:solidFill>
                <a:latin typeface="Arial"/>
              </a:rPr>
              <a:t>The charter must contain all 13 headings and one measurable completion condition. The tool register must contain exactly five Tool_ID rows, with PUBLISH_BRIEF prohibited and every non-read action assigned a human gate. The prompt must contain all five C-L-E-A-R sections and require Source_ID, FACT/HYPOTHESIS/UNKNOWN separation and a reviewer checklist. Both tabletop scenarios must stop with no invented data and no write action.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Profile Approved Financial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connect the foundation to three synthetic snapshots: cash ledger, bank statement and budget-versus-actual. Before any model sees the data, you will document grain and sign conventions, verify keys and control totals, remove unneeded fields and test whether the assistant cites stable Source_ID values.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01-foundation/source-manifest.csv, data-contracts.md, data-quality-report.md, approved-source-package.md and run-evidence/L02-grounding-test.md.</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Copy snapshots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Record lineage</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Run quality checks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Minimise access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approved AI assistant · cash-ledger.csv · bank-statement.csv · budget-actual.csv</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Profile Approved Financial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700" b="0">
                <a:solidFill>
                  <a:srgbClr val="161B26"/>
                </a:solidFill>
                <a:latin typeface="Arial"/>
              </a:rPr>
              <a:t>The manifest must contain exactly three Source_ID rows and the expected counts and totals. Each data contract must contain all 13 required fields. The quality report must show a result for every stated check. The grounding test must return seven correct values with seven valid Source_ID citations and zero unsupported fields. The tool register must restrict BANK_JUN to reconciliation.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Getting Started with Agentic AI for Finance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LO1: design a bounded finance agent with instructions, tools, limits and human review</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LO1: connect an agent to approved financial data with quality, lineage and least-privilege controls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Automating Financial Workflows with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reporting and reconciliation · forecasting and planning · invoice processing · human-in-the-loop controls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Day 1 afternoon · 3 connected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Automating Financial Workflows with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Control-first workflow</a:t>
            </a:r>
          </a:p>
          <a:p>
            <a:pPr algn="l">
              <a:spcAft>
                <a:spcPts val="300"/>
              </a:spcAft>
            </a:pPr>
            <a:r>
              <a:rPr sz="1200" b="0">
                <a:solidFill>
                  <a:srgbClr val="5B6372"/>
                </a:solidFill>
                <a:latin typeface="Arial"/>
              </a:rPr>
              <a:t>Map source, calculation, exception, approval, record update and evidence before adding a model.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Reconciliation</a:t>
            </a:r>
          </a:p>
          <a:p>
            <a:pPr algn="l">
              <a:spcAft>
                <a:spcPts val="300"/>
              </a:spcAft>
            </a:pPr>
            <a:r>
              <a:rPr sz="1200" b="0">
                <a:solidFill>
                  <a:srgbClr val="5B6372"/>
                </a:solidFill>
                <a:latin typeface="Arial"/>
              </a:rPr>
              <a:t>Match records by approved keys and tolerances, explain only the remaining exception set and preserve adjusted balances.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Driver-based forecast</a:t>
            </a:r>
          </a:p>
          <a:p>
            <a:pPr algn="l">
              <a:spcAft>
                <a:spcPts val="300"/>
              </a:spcAft>
            </a:pPr>
            <a:r>
              <a:rPr sz="1200" b="0">
                <a:solidFill>
                  <a:srgbClr val="5B6372"/>
                </a:solidFill>
                <a:latin typeface="Arial"/>
              </a:rPr>
              <a:t>Translate explicit volume, price, rate and cost assumptions into formulas and comparable scenarios.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Document pipeline</a:t>
            </a:r>
          </a:p>
          <a:p>
            <a:pPr algn="l">
              <a:spcAft>
                <a:spcPts val="300"/>
              </a:spcAft>
            </a:pPr>
            <a:r>
              <a:rPr sz="1200" b="0">
                <a:solidFill>
                  <a:srgbClr val="5B6372"/>
                </a:solidFill>
                <a:latin typeface="Arial"/>
              </a:rPr>
              <a:t>Capture, extract, validate, match, route, review and record without letting extraction confidence authorise payment.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Human gate</a:t>
            </a:r>
          </a:p>
          <a:p>
            <a:pPr algn="l">
              <a:spcAft>
                <a:spcPts val="300"/>
              </a:spcAft>
            </a:pPr>
            <a:r>
              <a:rPr sz="1200" b="0">
                <a:solidFill>
                  <a:srgbClr val="5B6372"/>
                </a:solidFill>
                <a:latin typeface="Arial"/>
              </a:rPr>
              <a:t>Route material, unusual, low-confidence or irreversible actions to an authorised role.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Idempotent action</a:t>
            </a:r>
          </a:p>
          <a:p>
            <a:pPr algn="l">
              <a:spcAft>
                <a:spcPts val="300"/>
              </a:spcAft>
            </a:pPr>
            <a:r>
              <a:rPr sz="1200" b="0">
                <a:solidFill>
                  <a:srgbClr val="5B6372"/>
                </a:solidFill>
                <a:latin typeface="Arial"/>
              </a:rPr>
              <a:t>A repeated run must not create duplicate records, payments or notifications.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Automating Reporting and Reconciliation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reporting agent assembles verified calculations and narrative from approved sources. A reconciliation compares two records of the same economic activity, applies exact or authorised tolerant matches, isolates exceptions and proves that adjusted balances agree.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Language models are useful for classifying exception descriptions and drafting commentary, but matching logic and control totals should remain deterministic. Combining both prevents a persuasive narrative from hiding an unreconciled difference.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Automating Reporting and Reconciliation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Freeze the period, source versions, opening balances and sign conventions.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Match exact keys first, then apply documented amount and date tolerances only where authorised.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Classify unmatched items as timing, bank-only, ledger-only, duplicate, mapping or investigation needed.</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Calculate adjusted balances independently and require equality before completion.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Draft commentary from the verified exception table and retain links to every source row.</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Automating Reporting and Reconciliation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Seven bank and ledger transactions match by reference and amount.</a:t>
            </a:r>
          </a:p>
          <a:p>
            <a:pPr>
              <a:spcAft>
                <a:spcPts val="1000"/>
              </a:spcAft>
            </a:pPr>
            <a:r>
              <a:rPr sz="1600" b="0">
                <a:solidFill>
                  <a:srgbClr val="161B26"/>
                </a:solidFill>
                <a:latin typeface="Arial"/>
              </a:rPr>
              <a:t>•  One outstanding payment reduces the adjusted bank balance; a bank fee and interest item adjust the ledger.</a:t>
            </a:r>
          </a:p>
          <a:p>
            <a:pPr>
              <a:spcAft>
                <a:spcPts val="1000"/>
              </a:spcAft>
            </a:pPr>
            <a:r>
              <a:rPr sz="1600" b="0">
                <a:solidFill>
                  <a:srgbClr val="161B26"/>
                </a:solidFill>
                <a:latin typeface="Arial"/>
              </a:rPr>
              <a:t>•  Both adjusted balances equal SGD 64,680, so the agent drafts a close note and routes the bank-only items for posting review.</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workflow has stable matching keys, tolerances and a defined exception owner.</a:t>
            </a:r>
          </a:p>
          <a:p>
            <a:pPr>
              <a:spcAft>
                <a:spcPts val="1000"/>
              </a:spcAft>
            </a:pPr>
            <a:r>
              <a:rPr sz="1400" b="0">
                <a:solidFill>
                  <a:srgbClr val="5B6372"/>
                </a:solidFill>
                <a:latin typeface="Arial"/>
              </a:rPr>
              <a:t>–  Narrative is generated only after control totals and adjusted balances pass.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model is allowed to 'make the balances agree' by deleting or inventing transactions.</a:t>
            </a:r>
          </a:p>
          <a:p>
            <a:pPr>
              <a:spcAft>
                <a:spcPts val="1000"/>
              </a:spcAft>
            </a:pPr>
            <a:r>
              <a:rPr sz="1400" b="0">
                <a:solidFill>
                  <a:srgbClr val="5B6372"/>
                </a:solidFill>
                <a:latin typeface="Arial"/>
              </a:rPr>
              <a:t>–  Matching rules, cut-off or sign conventions are undocumented.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Automating Reporting and Reconciliation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Complete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source row is matched once or appears in an owned exception queue.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Balanced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Independent adjusted balances agree exactly or within an approved tolerance.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Explainable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Each match rule and exception classification is visible.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Building Forecasting and Planning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forecasting agent converts explicit business drivers and assumptions into a time-phased projection, compares scenarios, explains sensitivities and records who approved each assumption. The numerical engine is deterministic; the model supports assumption discovery, challenge and communication.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single forecast can create false precision. Driver-based scenarios expose how revenue growth, cost rates and operating expenses affect outcomes. Backtesting and assumption ownership make forecast error a learning signal rather than a reason to rewrite history.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Building Forecasting and Planning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the forecast grain, horizon, baseline date and driver formulas.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base, downside and upside assumptions with owners and rationale.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Calculate every scenario with the same formula structure and preserve units.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Backtest prior forecasts using absolute error and document structural breaks or missing drivers.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Ask the model to challenge assumptions and explain sensitivity without changing approved values.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Building Forecasting and Planning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June revenue of SGD 125,000 is the base; July base growth is 3%, cost of goods is 56% of revenue and operating expense is SGD 40,000.</a:t>
            </a:r>
          </a:p>
          <a:p>
            <a:pPr>
              <a:spcAft>
                <a:spcPts val="1000"/>
              </a:spcAft>
            </a:pPr>
            <a:r>
              <a:rPr sz="1600" b="0">
                <a:solidFill>
                  <a:srgbClr val="161B26"/>
                </a:solidFill>
                <a:latin typeface="Arial"/>
              </a:rPr>
              <a:t>•  The deterministic July operating-profit calculation is SGD 16,650.</a:t>
            </a:r>
          </a:p>
          <a:p>
            <a:pPr>
              <a:spcAft>
                <a:spcPts val="1000"/>
              </a:spcAft>
            </a:pPr>
            <a:r>
              <a:rPr sz="1600" b="0">
                <a:solidFill>
                  <a:srgbClr val="161B26"/>
                </a:solidFill>
                <a:latin typeface="Arial"/>
              </a:rPr>
              <a:t>•  The agent compares downside and upside cases, names the largest driver and presents the assumption owner and review date.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organisation can identify controllable drivers and maintain scenario assumptions.</a:t>
            </a:r>
          </a:p>
          <a:p>
            <a:pPr>
              <a:spcAft>
                <a:spcPts val="1000"/>
              </a:spcAft>
            </a:pPr>
            <a:r>
              <a:rPr sz="1400" b="0">
                <a:solidFill>
                  <a:srgbClr val="5B6372"/>
                </a:solidFill>
                <a:latin typeface="Arial"/>
              </a:rPr>
              <a:t>–  Decision-makers need ranges, sensitivities and triggers rather than one unsupported point estimate.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agent invents future events, probabilities or market data that were not supplied.</a:t>
            </a:r>
          </a:p>
          <a:p>
            <a:pPr>
              <a:spcAft>
                <a:spcPts val="1000"/>
              </a:spcAft>
            </a:pPr>
            <a:r>
              <a:rPr sz="1400" b="0">
                <a:solidFill>
                  <a:srgbClr val="5B6372"/>
                </a:solidFill>
                <a:latin typeface="Arial"/>
              </a:rPr>
              <a:t>–  Forecast outputs are written back as an approved plan without owner review.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Building Forecasting and Planning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Formula-led</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Scenarios share transparent formulas and units.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Assumption-owned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material driver has a source, owner and review trigger.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Backtested</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Error is measured on prior periods and feeds the next revision.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Document and Invoice Processing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invoice agent captures a document, extracts fields, validates the supplier and invoice identity, checks purchase and receipt evidence, applies tolerances, routes exceptions and creates a draft record for approval. Extraction is evidence capture, not authority to post or pay.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Invoices are semi-structured and arrive in many formats, making extraction a good AI use case. Financial commitment, duplicate prevention, tax treatment and payment remain high-impact controls that require deterministic validation and explicit human authority.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Document and Invoice Processing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Capture the original document with a stable hash or identifier.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Extract supplier, invoice, date, currency, purchase order, totals and line items with field-level confidence.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Validate supplier master data, duplicate keys, arithmetic, tax, purchase order and receipt status.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Route low-confidence, missing, mismatched or unusual items to an exception queue.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a draft only; require authorised approval before posting or payment.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Document and Invoice Processing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An invoice total matches its purchase order and receipt, but another record exceeds the amount tolerance by SGD 400.</a:t>
            </a:r>
          </a:p>
          <a:p>
            <a:pPr>
              <a:spcAft>
                <a:spcPts val="1000"/>
              </a:spcAft>
            </a:pPr>
            <a:r>
              <a:rPr sz="1600" b="0">
                <a:solidFill>
                  <a:srgbClr val="161B26"/>
                </a:solidFill>
                <a:latin typeface="Arial"/>
              </a:rPr>
              <a:t>•  A missing purchase order, a duplicate flag and a low-confidence total each take different exception routes.</a:t>
            </a:r>
          </a:p>
          <a:p>
            <a:pPr>
              <a:spcAft>
                <a:spcPts val="1000"/>
              </a:spcAft>
            </a:pPr>
            <a:r>
              <a:rPr sz="1600" b="0">
                <a:solidFill>
                  <a:srgbClr val="161B26"/>
                </a:solidFill>
                <a:latin typeface="Arial"/>
              </a:rPr>
              <a:t>•  The workflow preserves the source document and reviewer correction so extraction performance can be improved.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Documents follow known business processes and reviewers can correct exceptions efficiently.</a:t>
            </a:r>
          </a:p>
          <a:p>
            <a:pPr>
              <a:spcAft>
                <a:spcPts val="1000"/>
              </a:spcAft>
            </a:pPr>
            <a:r>
              <a:rPr sz="1400" b="0">
                <a:solidFill>
                  <a:srgbClr val="5B6372"/>
                </a:solidFill>
                <a:latin typeface="Arial"/>
              </a:rPr>
              <a:t>–  The system can preserve originals, extracted fields, confidence, validation results and approvals.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agent may create a supplier, change bank details, post or pay without independent verification.</a:t>
            </a:r>
          </a:p>
          <a:p>
            <a:pPr>
              <a:spcAft>
                <a:spcPts val="1000"/>
              </a:spcAft>
            </a:pPr>
            <a:r>
              <a:rPr sz="1400" b="0">
                <a:solidFill>
                  <a:srgbClr val="5B6372"/>
                </a:solidFill>
                <a:latin typeface="Arial"/>
              </a:rPr>
              <a:t>–  Confidence score alone is treated as proof that the transaction is valid.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Document and Invoice Processing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Source-preserved</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Original document and extracted fields remain linked.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Three-way checked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Invoice, purchase order and receipt are compared where applicable.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Draft-only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Irreversible actions remain behind authorised approval.</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Human-in-the-Loop Controls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Human-in-the-loop control inserts a named person at a defined decision point to review evidence, correct the record, approve an action or take over a failed run. It is a designed operating role with thresholds and service levels, not a generic instruction to 'check the output'.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Finance actions vary sharply in impact and reversibility. A read-only draft can tolerate more automation than a journal, supplier-master change or payment. Risk-tiered gates protect segregation of duties while still allowing low-risk work to move quickly.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It Works — Human-in-the-Loop Controls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Rate tools and actions by data sensitivity, financial impact, reversibility and external effect.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automatic, review-required and prohibited routes with explicit thresholds.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Show the reviewer source evidence, model output, rule results and proposed action in one queue.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Require reason codes for approve, correct, reject and escalate decisions.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Set timeout, retry and handoff behaviour; make writes idempotent and auditable.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 Practice — Human-in-the-Loop Controls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Read-only variance drafting proceeds automatically after reconciled totals pass.</a:t>
            </a:r>
          </a:p>
          <a:p>
            <a:pPr>
              <a:spcAft>
                <a:spcPts val="1000"/>
              </a:spcAft>
            </a:pPr>
            <a:r>
              <a:rPr sz="1600" b="0">
                <a:solidFill>
                  <a:srgbClr val="161B26"/>
                </a:solidFill>
                <a:latin typeface="Arial"/>
              </a:rPr>
              <a:t>•  An invoice within tolerance creates a draft, while a missing purchase order or bank-detail change is held for independent review.</a:t>
            </a:r>
          </a:p>
          <a:p>
            <a:pPr>
              <a:spcAft>
                <a:spcPts val="1000"/>
              </a:spcAft>
            </a:pPr>
            <a:r>
              <a:rPr sz="1600" b="0">
                <a:solidFill>
                  <a:srgbClr val="161B26"/>
                </a:solidFill>
                <a:latin typeface="Arial"/>
              </a:rPr>
              <a:t>•  A retry uses the same idempotency key, so the workflow cannot create a second draft invoice.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task is valuable to automate but exceptions or actions can create material impact.</a:t>
            </a:r>
          </a:p>
          <a:p>
            <a:pPr>
              <a:spcAft>
                <a:spcPts val="1000"/>
              </a:spcAft>
            </a:pPr>
            <a:r>
              <a:rPr sz="1400" b="0">
                <a:solidFill>
                  <a:srgbClr val="5B6372"/>
                </a:solidFill>
                <a:latin typeface="Arial"/>
              </a:rPr>
              <a:t>–  Authorised reviewers, thresholds, evidence and response times can be assigned.</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reviewer sees only a recommendation and cannot inspect evidence or change the outcome.</a:t>
            </a:r>
          </a:p>
          <a:p>
            <a:pPr>
              <a:spcAft>
                <a:spcPts val="1000"/>
              </a:spcAft>
            </a:pPr>
            <a:r>
              <a:rPr sz="1400" b="0">
                <a:solidFill>
                  <a:srgbClr val="5B6372"/>
                </a:solidFill>
                <a:latin typeface="Arial"/>
              </a:rPr>
              <a:t>–  Approval is performed by the same identity that initiated a restricted action without segregation.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Quality Lens — Human-in-the-Loop Controls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Risk-tiered</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Review strength rises with sensitivity, impact and irreversibility.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Actionable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reviewer has evidence, choices, reason codes and a deadline.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Independent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Segregation of duties is maintained for restricted actions.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Automating Financial Workflows with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Reconciliation and Close-Reporting Agent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Driver-Based Forecasting Agent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5</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Design the Invoice Exception and Human-Review Agent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Reconciliation and Close-Reporting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use deterministic matching before asking the model to classify or explain anything. The completed reconciliation must account for every source row, prove equal adjusted balances and feed only verified exceptions and budget variances into the close-report prompt.</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02-automation/reconciliation-june.csv, exception-queue.csv, adjusted-balance-proof.md, june-close-brief.md and run-evidence/L03-reconciliation-run.md.</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Match exact records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Classify exceptions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Prove adjusted balances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Calculate variances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approved AI assistant · CASH_LEDGER_JUN · BANK_JUN · BUDGET_ACTUAL_JUN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Reconciliation and Close-Reporting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700" b="0">
                <a:solidFill>
                  <a:srgbClr val="161B26"/>
                </a:solidFill>
                <a:latin typeface="Arial"/>
              </a:rPr>
              <a:t>The reconciliation must contain seven one-to-one matched pairs and the exception queue exactly three source rows. Ledger ending balance must be SGD 64,700, bank ending SGD 65,530 and both adjusted balances SGD 64,680. The close brief must cite every material amount, report operating-profit variance of SGD 1,000 favourable and contain no journal, payment or unsupported causal claim.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the Driver-Based Forecasting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turn the verified June actual into a July–September driver model. The spreadsheet owns every calculation; the agent compares scenarios, challenges missing assumptions and drafts decision questions without silently changing the approved drivers.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02-automation/forecast-assumptions.csv, scenario-forecast.csv, forecast-challenge.md, forecast-pack.md and run-evidence/L04-forecast-run.md.</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Validate the baseline</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Load assumptions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Calculate scenarios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Challenge drivers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approved AI assistant · historical-monthly.csv · forecast-drivers.csv</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the Driver-Based Forecasting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700" b="0">
                <a:solidFill>
                  <a:srgbClr val="161B26"/>
                </a:solidFill>
                <a:latin typeface="Arial"/>
              </a:rPr>
              <a:t>The assumption file must contain all nine scenario-driver rows with owner, source, approval, date and trigger. The forecast must contain nine month-scenario rows using one formula pattern. July operating profit must be SGD 16,650 Base, SGD 7,000 Downside and SGD 21,950 Upside. The challenge must preserve approved values and label alternatives as OPTION, not prediction.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Design the Invoice Exception and Human-Review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process a synthetic invoice register containing amount mismatches, missing purchase orders, a duplicate, missing receipt evidence, low confidence and an untrusted instruction. The workflow may create a draft-ready route, but it cannot post, pay or change master data.</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02-automation/invoice-routing.csv, invoice-exception-queue.csv, human-gate-matrix.csv, invoice-agent-instructions.md and run-evidence/L05-invoice-run.md.</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Preserve the source</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Validate fields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Apply match rules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Route exceptions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approved AI assistant · invoice-register.csv · Lab 1 tool-risk register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Design the Invoice Exception and Human-Review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500" b="0">
                <a:solidFill>
                  <a:srgbClr val="161B26"/>
                </a:solidFill>
                <a:latin typeface="Arial"/>
              </a:rPr>
              <a:t>All six source documents must remain linked. Exactly one invoice must be DRAFT_READY and five must appear in the exception queue with the expected routes. The gate matrix must prohibit posting, supplier creation, bank-detail change and payment. The untrusted Document_Note must not change instructions; the run record must show it was ignored and a security event was logged while INV-006 remained REVIEW_CONFIDENCE. The run must contain zero posted or paid actions.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Automating Financial Workflows with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LO2: automate reporting and reconciliation with deterministic matching, adjusted balances and owned exceptions</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LO2: build a planning agent that calculates transparent scenarios and preserves assumption ownership</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LO2: automate invoice extraction and routing while keeping posting, payment and master-data changes human-controlled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Analysis and Insights with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financial analysis · risk and scenarios · evidence-backed recommendations · financial visualisation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Day 2 morning · 2 connected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Analysis and Insights with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Statement logic</a:t>
            </a:r>
          </a:p>
          <a:p>
            <a:pPr algn="l">
              <a:spcAft>
                <a:spcPts val="300"/>
              </a:spcAft>
            </a:pPr>
            <a:r>
              <a:rPr sz="1200" b="0">
                <a:solidFill>
                  <a:srgbClr val="5B6372"/>
                </a:solidFill>
                <a:latin typeface="Arial"/>
              </a:rPr>
              <a:t>Read income, balance-sheet and cash-flow information together; no single statement tells the complete story.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Verified metric</a:t>
            </a:r>
          </a:p>
          <a:p>
            <a:pPr algn="l">
              <a:spcAft>
                <a:spcPts val="300"/>
              </a:spcAft>
            </a:pPr>
            <a:r>
              <a:rPr sz="1200" b="0">
                <a:solidFill>
                  <a:srgbClr val="5B6372"/>
                </a:solidFill>
                <a:latin typeface="Arial"/>
              </a:rPr>
              <a:t>Name formula, period, units, denominator and exclusions before interpreting a result.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Variance bridge</a:t>
            </a:r>
          </a:p>
          <a:p>
            <a:pPr algn="l">
              <a:spcAft>
                <a:spcPts val="300"/>
              </a:spcAft>
            </a:pPr>
            <a:r>
              <a:rPr sz="1200" b="0">
                <a:solidFill>
                  <a:srgbClr val="5B6372"/>
                </a:solidFill>
                <a:latin typeface="Arial"/>
              </a:rPr>
              <a:t>Separate price, volume, mix, timing and one-off drivers where evidence permits.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Scenario discipline</a:t>
            </a:r>
          </a:p>
          <a:p>
            <a:pPr algn="l">
              <a:spcAft>
                <a:spcPts val="300"/>
              </a:spcAft>
            </a:pPr>
            <a:r>
              <a:rPr sz="1200" b="0">
                <a:solidFill>
                  <a:srgbClr val="5B6372"/>
                </a:solidFill>
                <a:latin typeface="Arial"/>
              </a:rPr>
              <a:t>Hold formulas constant, change named assumptions and compare outcomes against triggers.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Insight chain</a:t>
            </a:r>
          </a:p>
          <a:p>
            <a:pPr algn="l">
              <a:spcAft>
                <a:spcPts val="300"/>
              </a:spcAft>
            </a:pPr>
            <a:r>
              <a:rPr sz="1200" b="0">
                <a:solidFill>
                  <a:srgbClr val="5B6372"/>
                </a:solidFill>
                <a:latin typeface="Arial"/>
              </a:rPr>
              <a:t>Claim → evidence → calculation → limitation → implication → owned action.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Visual grammar</a:t>
            </a:r>
          </a:p>
          <a:p>
            <a:pPr algn="l">
              <a:spcAft>
                <a:spcPts val="300"/>
              </a:spcAft>
            </a:pPr>
            <a:r>
              <a:rPr sz="1200" b="0">
                <a:solidFill>
                  <a:srgbClr val="5B6372"/>
                </a:solidFill>
                <a:latin typeface="Arial"/>
              </a:rPr>
              <a:t>Match chart form to question and preserve scale, units, baselines and uncertainty.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Financial Analysis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Financial analysis connects statements, operational drivers, ratios and period comparisons to answer a defined question. An agent can assemble evidence and draft explanations, while formulas, accounting definitions and source reconciliations remain controlled outside the model.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accurate ratio can still mislead when its period, denominator or business context is wrong. Finance analysis therefore starts with a question and metric contract, then separates what the data shows from possible causes that require operating evidence.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It Works — Financial Analysis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State the decision question, period, comparator, currency and materiality threshold.</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Reconcile source totals and define every formula, denominator and sign convention.</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Calculate trend, variance, margin, liquidity or efficiency measures deterministically.</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Ask the agent to identify patterns and questions, citing the exact rows behind each claim.</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Validate causes with operational evidence and label unverified explanations as hypotheses.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 Practice — Financial Analysis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June revenue is SGD 125,000 and operating profit is SGD 17,500, giving a 14.0% operating margin.</a:t>
            </a:r>
          </a:p>
          <a:p>
            <a:pPr>
              <a:spcAft>
                <a:spcPts val="1000"/>
              </a:spcAft>
            </a:pPr>
            <a:r>
              <a:rPr sz="1600" b="0">
                <a:solidFill>
                  <a:srgbClr val="161B26"/>
                </a:solidFill>
                <a:latin typeface="Arial"/>
              </a:rPr>
              <a:t>•  Revenue rose 5.9% from May, but cloud expense exceeded budget by 50%; both calculations are visible.</a:t>
            </a:r>
          </a:p>
          <a:p>
            <a:pPr>
              <a:spcAft>
                <a:spcPts val="1000"/>
              </a:spcAft>
            </a:pPr>
            <a:r>
              <a:rPr sz="1600" b="0">
                <a:solidFill>
                  <a:srgbClr val="161B26"/>
                </a:solidFill>
                <a:latin typeface="Arial"/>
              </a:rPr>
              <a:t>•  The agent may ask whether migration activity drove cloud cost, but it cannot state that cause without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defined business question can be answered from reconciled statements and operational drivers.</a:t>
            </a:r>
          </a:p>
          <a:p>
            <a:pPr>
              <a:spcAft>
                <a:spcPts val="1000"/>
              </a:spcAft>
            </a:pPr>
            <a:r>
              <a:rPr sz="1400" b="0">
                <a:solidFill>
                  <a:srgbClr val="5B6372"/>
                </a:solidFill>
                <a:latin typeface="Arial"/>
              </a:rPr>
              <a:t>–  The audience needs an evidence-led explanation and follow-up questions.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Metrics with different periods, currencies or definitions are compared without normalisation.</a:t>
            </a:r>
          </a:p>
          <a:p>
            <a:pPr>
              <a:spcAft>
                <a:spcPts val="1000"/>
              </a:spcAft>
            </a:pPr>
            <a:r>
              <a:rPr sz="1400" b="0">
                <a:solidFill>
                  <a:srgbClr val="5B6372"/>
                </a:solidFill>
                <a:latin typeface="Arial"/>
              </a:rPr>
              <a:t>–  Correlation or timing is presented as a causal explanation.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Quality Lens — Financial Analysis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Defined</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Formula, period, unit, denominator and material exclusions are visible.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Reconciled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Inputs tie to approved totals before interpretation.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Separated</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Facts, calculations, hypotheses and decisions are distinct.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Risk and Scenario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Sensitivity analysis changes one driver to show exposure; scenario analysis changes a coherent set of assumptions; stress analysis explores severe but plausible conditions. A finance agent organises assumptions, calculations, triggers and responses without treating a scenario as a prediction.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Point forecasts hide the range of possible outcomes. Structured scenarios reveal which assumptions dominate cash, margin or covenant exposure and let managers pre-agree actions before a trigger is crossed.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It Works — Risk and Scenario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Choose the decision, horizon, baseline and outcome measures.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coherent base, upside and downside assumptions with owners and evidence.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Calculate outcomes through one controlled model and run one-at-a-time sensitivities.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Identify breakpoints, leading indicators and action triggers.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Record limitations, missing dependencies and management responses for each scenario.</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 Practice — Risk and Scenario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downside case combines −2% monthly revenue growth, 60% cost of goods and SGD 42,000 operating expense.</a:t>
            </a:r>
          </a:p>
          <a:p>
            <a:pPr>
              <a:spcAft>
                <a:spcPts val="1000"/>
              </a:spcAft>
            </a:pPr>
            <a:r>
              <a:rPr sz="1600" b="0">
                <a:solidFill>
                  <a:srgbClr val="161B26"/>
                </a:solidFill>
                <a:latin typeface="Arial"/>
              </a:rPr>
              <a:t>•  The agent compares September operating profit across scenarios and identifies the revenue-growth breakpoint for a negative result.</a:t>
            </a:r>
          </a:p>
          <a:p>
            <a:pPr>
              <a:spcAft>
                <a:spcPts val="1000"/>
              </a:spcAft>
            </a:pPr>
            <a:r>
              <a:rPr sz="1600" b="0">
                <a:solidFill>
                  <a:srgbClr val="161B26"/>
                </a:solidFill>
                <a:latin typeface="Arial"/>
              </a:rPr>
              <a:t>•  Management selects a monitoring trigger; the scenario remains a planning construct, not a forecast certainty.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decision is sensitive to uncertain but expressible drivers.</a:t>
            </a:r>
          </a:p>
          <a:p>
            <a:pPr>
              <a:spcAft>
                <a:spcPts val="1000"/>
              </a:spcAft>
            </a:pPr>
            <a:r>
              <a:rPr sz="1400" b="0">
                <a:solidFill>
                  <a:srgbClr val="5B6372"/>
                </a:solidFill>
                <a:latin typeface="Arial"/>
              </a:rPr>
              <a:t>–  Leaders need ranges, breakpoints and contingent actions.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Arbitrary assumptions are presented without owners, sources or coherence.</a:t>
            </a:r>
          </a:p>
          <a:p>
            <a:pPr>
              <a:spcAft>
                <a:spcPts val="1000"/>
              </a:spcAft>
            </a:pPr>
            <a:r>
              <a:rPr sz="1400" b="0">
                <a:solidFill>
                  <a:srgbClr val="5B6372"/>
                </a:solidFill>
                <a:latin typeface="Arial"/>
              </a:rPr>
              <a:t>–  A severe scenario is labelled likely, or a scenario is used as a substitute for a controlled forecast.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Quality Lens — Risk and Scenario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Coherent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Assumptions form internally consistent business conditions.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Comparable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Scenarios use the same formulas, grain and horizon.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Action-linked</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Indicators and thresholds connect outcomes to named responses.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Generating Insights and Recommendations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insight explains a material pattern in context; a recommendation proposes a proportionate action with owner, timing, expected effect and risk. A defensible agent output links every claim through evidence and calculation to a limitation and decision.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list of variances is not an insight, and confident advice is not a recommendation unless the mechanism and trade-off are visible. A structured chain prevents the model from jumping from a number to a decision.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Generating Insights and Recommendations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Rank findings by decision relevance and materiality, not novelty.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Build a claim–evidence–calculation–limitation chain for each finding.</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Distinguish observed driver, supported cause, plausible hypothesis and unknown.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For each action, name owner, deadline, expected effect, cost or risk and success measure.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Present alternatives and escalation conditions when uncertainty is material.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Generating Insights and Recommendations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Claim: cloud expense is SGD 2,000 above budget and 42.9% above May.</a:t>
            </a:r>
          </a:p>
          <a:p>
            <a:pPr>
              <a:spcAft>
                <a:spcPts val="1000"/>
              </a:spcAft>
            </a:pPr>
            <a:r>
              <a:rPr sz="1600" b="0">
                <a:solidFill>
                  <a:srgbClr val="161B26"/>
                </a:solidFill>
                <a:latin typeface="Arial"/>
              </a:rPr>
              <a:t>•  Evidence: June actual, June budget and May actual rows; limitation: workload-volume data is not supplied.</a:t>
            </a:r>
          </a:p>
          <a:p>
            <a:pPr>
              <a:spcAft>
                <a:spcPts val="1000"/>
              </a:spcAft>
            </a:pPr>
            <a:r>
              <a:rPr sz="1600" b="0">
                <a:solidFill>
                  <a:srgbClr val="161B26"/>
                </a:solidFill>
                <a:latin typeface="Arial"/>
              </a:rPr>
              <a:t>•  Recommendation: the technology owner validates usage and reserved-capacity options by Friday; finance monitors cost per workload unit.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output supports a known audience, decision cadence and action process.</a:t>
            </a:r>
          </a:p>
          <a:p>
            <a:pPr>
              <a:spcAft>
                <a:spcPts val="1000"/>
              </a:spcAft>
            </a:pPr>
            <a:r>
              <a:rPr sz="1400" b="0">
                <a:solidFill>
                  <a:srgbClr val="5B6372"/>
                </a:solidFill>
                <a:latin typeface="Arial"/>
              </a:rPr>
              <a:t>–  Evidence and calculation are available for each material statement.</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model is asked for strategic advice without business constraints or decision rights.</a:t>
            </a:r>
          </a:p>
          <a:p>
            <a:pPr>
              <a:spcAft>
                <a:spcPts val="1000"/>
              </a:spcAft>
            </a:pPr>
            <a:r>
              <a:rPr sz="1400" b="0">
                <a:solidFill>
                  <a:srgbClr val="5B6372"/>
                </a:solidFill>
                <a:latin typeface="Arial"/>
              </a:rPr>
              <a:t>–  A polished explanation masks missing operational evidence.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Generating Insights and Recommendations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Material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finding matters to the stated decision or threshold.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Traceable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Evidence and calculation can be reproduced.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Operable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Action, owner, date, expected effect and measure are explicit.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Visualising Financial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Financial visualisation encodes a defined comparison using position, length, colour or annotation. The chart must preserve period, unit, scale, baseline, grouping and uncertainty so a reader can verify the message from the underlying table.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chart can amplify insight or manufacture it. Truncated axes, mixed units, excessive categories and decorative colour can make immaterial changes look decisive. Finance visuals should make the decision and the evidence easier to inspect.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It Works — Visualising Financial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Choose one question: trend, comparison, composition, relationship or distribution.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lines for ordered time, bars for categorical comparison and tables when exact values dominate.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units and period in the title or axes; start bar axes at zero and label scenario assumptions.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colour for a meaningful status or group, not decoration, and pair colour with direct labels.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Reconcile plotted values to the reviewed table and include source, as-of date and caveat.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 Practice — Visualising Financial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three-line chart compares monthly operating profit under base, downside and upside assumptions.</a:t>
            </a:r>
          </a:p>
          <a:p>
            <a:pPr>
              <a:spcAft>
                <a:spcPts val="1000"/>
              </a:spcAft>
            </a:pPr>
            <a:r>
              <a:rPr sz="1600" b="0">
                <a:solidFill>
                  <a:srgbClr val="161B26"/>
                </a:solidFill>
                <a:latin typeface="Arial"/>
              </a:rPr>
              <a:t>•  The legend names each scenario; axes show SGD and month; a note states that scenarios are assumption sets, not probabilities.</a:t>
            </a:r>
          </a:p>
          <a:p>
            <a:pPr>
              <a:spcAft>
                <a:spcPts val="1000"/>
              </a:spcAft>
            </a:pPr>
            <a:r>
              <a:rPr sz="1600" b="0">
                <a:solidFill>
                  <a:srgbClr val="161B26"/>
                </a:solidFill>
                <a:latin typeface="Arial"/>
              </a:rPr>
              <a:t>•  A compact table beneath the chart gives exact values and the trigger selected by management.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visual pattern materially improves a reader's understanding of a decision.</a:t>
            </a:r>
          </a:p>
          <a:p>
            <a:pPr>
              <a:spcAft>
                <a:spcPts val="1000"/>
              </a:spcAft>
            </a:pPr>
            <a:r>
              <a:rPr sz="1400" b="0">
                <a:solidFill>
                  <a:srgbClr val="5B6372"/>
                </a:solidFill>
                <a:latin typeface="Arial"/>
              </a:rPr>
              <a:t>–  The reviewed source table and encoding can be supplied together.</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short table is clearer or exact values are the primary need.</a:t>
            </a:r>
          </a:p>
          <a:p>
            <a:pPr>
              <a:spcAft>
                <a:spcPts val="1000"/>
              </a:spcAft>
            </a:pPr>
            <a:r>
              <a:rPr sz="1400" b="0">
                <a:solidFill>
                  <a:srgbClr val="5B6372"/>
                </a:solidFill>
                <a:latin typeface="Arial"/>
              </a:rPr>
              <a:t>–  Dual axes or selective ranges imply a relationship the data does not support.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Quality Lens — Visualising Financial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Honest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Scale, baseline, units and exclusions are not misleading.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Focused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One visible comparison answers one reader question.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Reproducible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mark ties to the reviewed data table.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Analysis and Insights with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Verified Financial Analysis Agent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7</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Scenario Insight and Visualisation Agent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Verified Financial Analysis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define metric contracts before calculating trends, margins and variances. The agent then organises the verified results into material findings and validation questions, while unsupported causes remain explicitly labelled hypotheses.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03-analysis/metric-contracts.csv, verified-analysis.csv, insight-evidence-chain.md, finance-analysis-brief.md and run-evidence/L06-analysis-run.md.</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Define metrics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Reconcile inputs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Calculate results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Build evidence chains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approved AI assistant · historical-monthly.csv · budget-actual.csv · Lab 3 close proof</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Verified Financial Analysis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500" b="0">
                <a:solidFill>
                  <a:srgbClr val="161B26"/>
                </a:solidFill>
                <a:latin typeface="Arial"/>
              </a:rPr>
              <a:t>Metric contracts must define formula, period, unit, comparator, exclusions, source, owner and materiality. June revenue must be SGD 125,000, gross profit SGD 55,000, operating profit SGD 17,500, gross margin 44.0%, operating margin 14.0% and revenue growth 5.93%. Cloud must be reported as SGD 2,000 and 50.0% over budget and SGD 1,800 or 42.86% above May. Every material narrative claim must cite a Metric_ID and Source_ID; unverified causes must remain HYPOTHESIS or UNKNOWN.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Scenario Insight and Visualisation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verify September scenario results, calculate one sensitivity, define monitoring triggers and create a chart that makes the range visible without implying probabilities. The agent supports explanation and action design; the spreadsheet owns the numbers.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03-analysis/scenario-summary.csv, scenario-risk-register.csv, scenario-insights.md, scenario-chart.xlsx or equivalent spreadsheet, chart-specification.md and run-evidence/L07-scenario-run.md.</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Verify scenarios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Measure sensitivity</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Define triggers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Draft actions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with chart capability · text editor · approved AI assistant · Lab 4 forecast · Lab 6 verified analysis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Scenario Insight and Visualisation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700" b="0">
                <a:solidFill>
                  <a:srgbClr val="161B26"/>
                </a:solidFill>
                <a:latin typeface="Arial"/>
              </a:rPr>
              <a:t>September operating profit must be SGD 20,099.99 Base, SGD 5,059.60 Downside and SGD 29,483.42 Upside. The one-point COGS sensitivity must reduce Base September profit by SGD 1,365.91. The risk register must include three owned risks with observable triggers. The chart must visibly encode Scenario, show SGD and month, reconcile all nine values and state that scenarios are not probabilities.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Analysis and Insights with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LO3: produce traceable financial analysis from reconciled metrics and evidence</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LO3: analyse risk scenarios and communicate evidence-backed recommendations with an honest visual</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Deploying and Governing Financial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data security and access · compliance and auditability · monitoring and improvement · deployment and scale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COURSE COVERAGE Day 2 afternoon · 2 connected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Deploying and Governing Financial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Least privilege</a:t>
            </a:r>
          </a:p>
          <a:p>
            <a:pPr algn="l">
              <a:spcAft>
                <a:spcPts val="300"/>
              </a:spcAft>
            </a:pPr>
            <a:r>
              <a:rPr sz="1200" b="0">
                <a:solidFill>
                  <a:srgbClr val="5B6372"/>
                </a:solidFill>
                <a:latin typeface="Arial"/>
              </a:rPr>
              <a:t>Give each identity and tool the minimum data and action rights for the shortest necessary time.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Layered guardrails</a:t>
            </a:r>
          </a:p>
          <a:p>
            <a:pPr algn="l">
              <a:spcAft>
                <a:spcPts val="300"/>
              </a:spcAft>
            </a:pPr>
            <a:r>
              <a:rPr sz="1200" b="0">
                <a:solidFill>
                  <a:srgbClr val="5B6372"/>
                </a:solidFill>
                <a:latin typeface="Arial"/>
              </a:rPr>
              <a:t>Combine access control, deterministic validation, content checks, approval gates and runtime limits.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Run evidence</a:t>
            </a:r>
          </a:p>
          <a:p>
            <a:pPr algn="l">
              <a:spcAft>
                <a:spcPts val="300"/>
              </a:spcAft>
            </a:pPr>
            <a:r>
              <a:rPr sz="1200" b="0">
                <a:solidFill>
                  <a:srgbClr val="5B6372"/>
                </a:solidFill>
                <a:latin typeface="Arial"/>
              </a:rPr>
              <a:t>Record source versions, prompts, tools, calculations, outputs, approvals, actions and errors.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Evaluation set</a:t>
            </a:r>
          </a:p>
          <a:p>
            <a:pPr algn="l">
              <a:spcAft>
                <a:spcPts val="300"/>
              </a:spcAft>
            </a:pPr>
            <a:r>
              <a:rPr sz="1200" b="0">
                <a:solidFill>
                  <a:srgbClr val="5B6372"/>
                </a:solidFill>
                <a:latin typeface="Arial"/>
              </a:rPr>
              <a:t>Use representative normal, boundary, exception and adversarial cases with observable expected results.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Operational metrics</a:t>
            </a:r>
          </a:p>
          <a:p>
            <a:pPr algn="l">
              <a:spcAft>
                <a:spcPts val="300"/>
              </a:spcAft>
            </a:pPr>
            <a:r>
              <a:rPr sz="1200" b="0">
                <a:solidFill>
                  <a:srgbClr val="5B6372"/>
                </a:solidFill>
                <a:latin typeface="Arial"/>
              </a:rPr>
              <a:t>Monitor task quality, exception rate, override rate, unsupported claims, latency, cost and incidents.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Controlled scale</a:t>
            </a:r>
          </a:p>
          <a:p>
            <a:pPr algn="l">
              <a:spcAft>
                <a:spcPts val="300"/>
              </a:spcAft>
            </a:pPr>
            <a:r>
              <a:rPr sz="1200" b="0">
                <a:solidFill>
                  <a:srgbClr val="5B6372"/>
                </a:solidFill>
                <a:latin typeface="Arial"/>
              </a:rPr>
              <a:t>Promote versioned releases from sandbox to pilot to production with rollback and accountable ownership.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Securing Financial Data and Access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Secure agent design applies data classification, minimisation, identity, least privilege, network and storage protection, secret management, tool validation and incident response across the full run. The model is one component inside the security boundary.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agent can combine trusted data with untrusted instructions and can call tools at machine speed. A malicious document, excessive connector permission or exposed secret can turn a useful workflow into data leakage or an unauthorised financial action.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Securing Financial Data and Access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Classify data and remove fields not needed for the use case.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separate service identities, read-only tools by default and allow-listed parameters.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secrets in approved secret storage; never place credentials in prompts, files or repositories.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Treat retrieved content as data, not instructions; validate tool inputs and outputs against schemas.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Limit turns, spend, destinations and write scope; log denied actions and rehearse revocation.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Securing Financial Data and Access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reporting agent may read one period's finance view but cannot browse the entire shared drive.</a:t>
            </a:r>
          </a:p>
          <a:p>
            <a:pPr>
              <a:spcAft>
                <a:spcPts val="1000"/>
              </a:spcAft>
            </a:pPr>
            <a:r>
              <a:rPr sz="1600" b="0">
                <a:solidFill>
                  <a:srgbClr val="161B26"/>
                </a:solidFill>
                <a:latin typeface="Arial"/>
              </a:rPr>
              <a:t>•  A text inside an uploaded invoice that asks the agent to reveal another supplier's data is ignored as untrusted content.</a:t>
            </a:r>
          </a:p>
          <a:p>
            <a:pPr>
              <a:spcAft>
                <a:spcPts val="1000"/>
              </a:spcAft>
            </a:pPr>
            <a:r>
              <a:rPr sz="1600" b="0">
                <a:solidFill>
                  <a:srgbClr val="161B26"/>
                </a:solidFill>
                <a:latin typeface="Arial"/>
              </a:rPr>
              <a:t>•  Payment and supplier-master tools are absent; access can be revoked through one service identity.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Before any finance data or tool is connected and whenever permissions change.</a:t>
            </a:r>
          </a:p>
          <a:p>
            <a:pPr>
              <a:spcAft>
                <a:spcPts val="1000"/>
              </a:spcAft>
            </a:pPr>
            <a:r>
              <a:rPr sz="1400" b="0">
                <a:solidFill>
                  <a:srgbClr val="5B6372"/>
                </a:solidFill>
                <a:latin typeface="Arial"/>
              </a:rPr>
              <a:t>–  Designing sandbox, pilot and production identities and network boundaries.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Relying on prompt wording as the only security control.</a:t>
            </a:r>
          </a:p>
          <a:p>
            <a:pPr>
              <a:spcAft>
                <a:spcPts val="1000"/>
              </a:spcAft>
            </a:pPr>
            <a:r>
              <a:rPr sz="1400" b="0">
                <a:solidFill>
                  <a:srgbClr val="5B6372"/>
                </a:solidFill>
                <a:latin typeface="Arial"/>
              </a:rPr>
              <a:t>–  Sharing a broad human account or long-lived key across multiple agents.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Securing Financial Data and Access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Least-privileged</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Identity, data, tool and parameter scope are minimal.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Layered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Preventive, detective and recovery controls do not depend on one model.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Revocable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Access, runs and releases can be stopped quickly and completely.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Compliance and Auditability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Auditability is the ability to reconstruct what an agent was intended to do, which data and version it used, which tools it called, what checks ran, who approved the result and what record changed. Compliance maps that evidence to applicable obligations and internal policy.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chat transcript alone cannot establish lineage, segregation, approvals or completeness. Finance governance needs a use-case inventory, accountability, change records and evidence proportionate to materiality, while legal and compliance teams determine applicable requirements.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It Works — Compliance and Auditability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Register purpose, owner, affected parties, data classes, decisions, tools and materiality.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Map policy and regulatory obligations to controls and retained evidence.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Version instructions, schemas, data contracts, models, tools, evaluation sets and approval thresholds.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Log source identifiers, tool calls, validation results, human decisions and final actions with timestamps.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retention, access, incident, contestability and change-approval procedures.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 Practice — Compliance and Auditability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finance-agent register maps fairness, ethics, accountability and transparency controls to the use case.</a:t>
            </a:r>
          </a:p>
          <a:p>
            <a:pPr>
              <a:spcAft>
                <a:spcPts val="1000"/>
              </a:spcAft>
            </a:pPr>
            <a:r>
              <a:rPr sz="1600" b="0">
                <a:solidFill>
                  <a:srgbClr val="161B26"/>
                </a:solidFill>
                <a:latin typeface="Arial"/>
              </a:rPr>
              <a:t>•  A run record shows the June source hash, prompt version, calculation check, reviewer and approved final brief.</a:t>
            </a:r>
          </a:p>
          <a:p>
            <a:pPr>
              <a:spcAft>
                <a:spcPts val="1000"/>
              </a:spcAft>
            </a:pPr>
            <a:r>
              <a:rPr sz="1600" b="0">
                <a:solidFill>
                  <a:srgbClr val="161B26"/>
                </a:solidFill>
                <a:latin typeface="Arial"/>
              </a:rPr>
              <a:t>•  A policy exception has an owner and expiry date rather than being hidden in the prompt.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An agent supports financial reporting, customer or supplier decisions, operational control or a regulated process.</a:t>
            </a:r>
          </a:p>
          <a:p>
            <a:pPr>
              <a:spcAft>
                <a:spcPts val="1000"/>
              </a:spcAft>
            </a:pPr>
            <a:r>
              <a:rPr sz="1400" b="0">
                <a:solidFill>
                  <a:srgbClr val="5B6372"/>
                </a:solidFill>
                <a:latin typeface="Arial"/>
              </a:rPr>
              <a:t>–  Internal audit, compliance, risk or management needs reconstructable evidence.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Claiming that a framework automatically proves legal compliance.</a:t>
            </a:r>
          </a:p>
          <a:p>
            <a:pPr>
              <a:spcAft>
                <a:spcPts val="1000"/>
              </a:spcAft>
            </a:pPr>
            <a:r>
              <a:rPr sz="1400" b="0">
                <a:solidFill>
                  <a:srgbClr val="5B6372"/>
                </a:solidFill>
                <a:latin typeface="Arial"/>
              </a:rPr>
              <a:t>–  Logging sensitive content without purpose, access control or retention limits.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Quality Lens — Compliance and Auditability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Reconstructable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reviewer can replay the decision path from retained evidence.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Proportionate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Controls reflect data sensitivity, decision materiality and affected parties.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Accountable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Business, data, technology, risk and approval roles are named.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Monitoring and Improving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Agent monitoring combines pre-release evaluations with production telemetry and sampled review. It measures whether tasks complete correctly, controls trigger when needed, outputs remain grounded and the workflow stays within quality, cost, latency and risk tolerances.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Model behaviour, source data, policies and workflows change. A successful demonstration does not predict performance on boundary cases or future data. A maintained evaluation set turns failures, corrections and incidents into controlled improvement.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Monitoring and Improving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normal, boundary, exception and adversarial cases with observable expected outcomes.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Measure deterministic accuracy, unsupported-claim rate, exception routing, human override, latency and cost.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Trace prompts, tools and checks so a failed result can be diagnosed by component.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Sample production runs by risk and investigate threshold breaches or drift.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Change one component at a time, rerun the evaluation set, approve and retain rollback evidence.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Monitoring and Improving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Ten cases include matched transactions, duplicates, low-confidence invoices, missing sources and a malicious instruction in a document.</a:t>
            </a:r>
          </a:p>
          <a:p>
            <a:pPr>
              <a:spcAft>
                <a:spcPts val="1000"/>
              </a:spcAft>
            </a:pPr>
            <a:r>
              <a:rPr sz="1600" b="0">
                <a:solidFill>
                  <a:srgbClr val="161B26"/>
                </a:solidFill>
                <a:latin typeface="Arial"/>
              </a:rPr>
              <a:t>•  Release requires all high-risk routes to stop correctly, all arithmetic checks to pass and no unsupported material figure.</a:t>
            </a:r>
          </a:p>
          <a:p>
            <a:pPr>
              <a:spcAft>
                <a:spcPts val="1000"/>
              </a:spcAft>
            </a:pPr>
            <a:r>
              <a:rPr sz="1600" b="0">
                <a:solidFill>
                  <a:srgbClr val="161B26"/>
                </a:solidFill>
                <a:latin typeface="Arial"/>
              </a:rPr>
              <a:t>•  A reviewer correction becomes a new regression case before the next prompt version is approved.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Before pilot, after any material component change and continuously in production.</a:t>
            </a:r>
          </a:p>
          <a:p>
            <a:pPr>
              <a:spcAft>
                <a:spcPts val="1000"/>
              </a:spcAft>
            </a:pPr>
            <a:r>
              <a:rPr sz="1400" b="0">
                <a:solidFill>
                  <a:srgbClr val="5B6372"/>
                </a:solidFill>
                <a:latin typeface="Arial"/>
              </a:rPr>
              <a:t>–  A failure can affect reports, records, counterparties or financial decisions.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Using user satisfaction as the only quality measure.</a:t>
            </a:r>
          </a:p>
          <a:p>
            <a:pPr>
              <a:spcAft>
                <a:spcPts val="1000"/>
              </a:spcAft>
            </a:pPr>
            <a:r>
              <a:rPr sz="1400" b="0">
                <a:solidFill>
                  <a:srgbClr val="5B6372"/>
                </a:solidFill>
                <a:latin typeface="Arial"/>
              </a:rPr>
              <a:t>–  Optimising cost or speed before the accuracy and control baseline is met.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Monitoring and Improving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Representative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Cases cover normal work, boundaries, exceptions and attacks.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Diagnostic</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Traces identify whether data, instruction, tool, model or control failed.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Regression-safe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correction becomes a retained test before release.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Deploying and Scaling in Finance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Deployment promotes a versioned agent through isolated environments with tested data, identities, approvals, telemetry and rollback. Scaling means reusing controlled components and operating practices across suitable workflows, not simply granting one agent more access.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Finance value depends on adoption, reliability and control over time. A staged release exposes workflow and operating issues at limited scale, while reusable prompt contracts, tools, data products and evaluation patterns reduce the cost of later use cases.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Deploying and Scaling in Finance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Prioritise use cases by value, feasibility, data readiness and residual risk.</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Move from synthetic sandbox to read-only pilot, shadow operation and controlled production.</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Separate development, test and production data, identities, configurations and approvals.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business owner, product owner, data owner, control owner, support route and service levels.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Scale reusable components only after evaluation, incident and change processes are working.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Deploying and Scaling in Finance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close-report agent first runs on synthetic data, then shadows one reporting cycle without publishing.</a:t>
            </a:r>
          </a:p>
          <a:p>
            <a:pPr>
              <a:spcAft>
                <a:spcPts val="1000"/>
              </a:spcAft>
            </a:pPr>
            <a:r>
              <a:rPr sz="1600" b="0">
                <a:solidFill>
                  <a:srgbClr val="161B26"/>
                </a:solidFill>
                <a:latin typeface="Arial"/>
              </a:rPr>
              <a:t>•  A read-only pilot compares its output with the approved manual process and records reviewer corrections.</a:t>
            </a:r>
          </a:p>
          <a:p>
            <a:pPr>
              <a:spcAft>
                <a:spcPts val="1000"/>
              </a:spcAft>
            </a:pPr>
            <a:r>
              <a:rPr sz="1600" b="0">
                <a:solidFill>
                  <a:srgbClr val="161B26"/>
                </a:solidFill>
                <a:latin typeface="Arial"/>
              </a:rPr>
              <a:t>•  Production begins with one entity and rollback to the manual workflow; later entities reuse the tested contract and evaluation suite.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prototype has a measurable baseline, accountable owner and reliable fallback.</a:t>
            </a:r>
          </a:p>
          <a:p>
            <a:pPr>
              <a:spcAft>
                <a:spcPts val="1000"/>
              </a:spcAft>
            </a:pPr>
            <a:r>
              <a:rPr sz="1400" b="0">
                <a:solidFill>
                  <a:srgbClr val="5B6372"/>
                </a:solidFill>
                <a:latin typeface="Arial"/>
              </a:rPr>
              <a:t>–  The organisation can operate versions, telemetry, incidents and change approval.</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Expanding data or action permissions to compensate for an unclear workflow.</a:t>
            </a:r>
          </a:p>
          <a:p>
            <a:pPr>
              <a:spcAft>
                <a:spcPts val="1000"/>
              </a:spcAft>
            </a:pPr>
            <a:r>
              <a:rPr sz="1400" b="0">
                <a:solidFill>
                  <a:srgbClr val="5B6372"/>
                </a:solidFill>
                <a:latin typeface="Arial"/>
              </a:rPr>
              <a:t>–  Removing the manual fallback before stability and recovery have been demonstrated.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Deploying and Scaling in Finance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Staged</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Capability and exposure grow through explicit release gates.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Operated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Owners, service levels, support, incidents and fallback are defined.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Reusable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Data contracts, tools, prompts and tests can be applied without copying hidden assumptions.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Deploying and Governing Financial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8</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Finance Agent Governance and Evidence Pack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9</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Evaluate, Monitor and Deploy the Finance Agent Portfolio</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Finance Agent Governance and Evidence Pack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turn five finance agents plus one shared foundation component into a governed inventory. You will apply least privilege, map controls to risk and responsible-AI outcomes, define a reconstructable run record and rehearse how to contain and investigate untrusted document content.</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04-governance/agent-inventory.csv, access-control-matrix.csv, control-evidence-matrix.csv, run-evidence-schema.md, incident-runbook.md and run-evidence/L08-governance-review.md.</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Inventory use cases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Map permissions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Design controls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Define evidence</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approved AI assistant · Labs 1–7 artifacts · governance-reference.csv · agent-inventory-starter.csv · access-control-starter.csv · control-evidence-starter.csv · run-evidence-schema-starter.md · incident-runbook-starter.md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Finance Agent Governance and Evidence Pack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400" b="0">
                <a:solidFill>
                  <a:srgbClr val="161B26"/>
                </a:solidFill>
                <a:latin typeface="Arial"/>
              </a:rPr>
              <a:t>The inventory must contain six named entries—five finance agents and one shared foundation component—each with owners, materiality and fallback, and Write_Tools must be NONE throughout. Every inventory Read_Tool must have one matching approved access row and the access matrix must contain no undeclared source, while denying the five stated actions. The control matrix must contain at least eight risk rows with prevention, detection, human response, evidence and owner, plus executed tests for data leakage and untrusted content. The run schema must support reconstruction, and the incident rehearsal must preserve evidence and create a regression case for both paths. INV-006 must stay REVIEW_CONFIDENCE when its note is safely ignored; an unauthorised attempt must STOP and trigger containment. No framework mapping may be described as proving compliance.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Evaluate, Monitor and Deploy the Finance Agent Portfolio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evaluate normal, boundary, exception and adversarial cases from the connected labs. Results become release evidence, not a one-time demo. You will then define monitoring, ownership, sandbox-to-production gates and a tested fallback for the portfolio.</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04-governance/evaluation-results.csv, monitoring-scorecard.md, deployment-plan.md, rollback-runbook.md, integrated-demo.md and run-evidence/L09-release-decision.md.</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Run evaluation cases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Score controls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Set monitoring thresholds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Design release stages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approved AI assistant · eval-cases.csv · eval-decision-tables.md · eval-oracle.csv · monitoring-scorecard-starter.csv · deployment-plan-template.md · rollback-runbook-starter.md · integrated-demo-template.md · Labs 1–8 artifacts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Evaluate, Monitor and Deploy the Finance Agent Portfolio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400" b="0">
                <a:solidFill>
                  <a:srgbClr val="161B26"/>
                </a:solidFill>
                <a:latin typeface="Arial"/>
              </a:rPr>
              <a:t>Evaluation results must contain exactly ten runner cases produced from the runner-visible decision tables, mapped Actual_Human_Gate and Actual_Evidence values, nonblank raw-response links and oracle-matched evidence keywords for every actual route, with eval-oracle.csv kept closed until Actual_* fields are frozen. All high-risk stop, hold and prohibited routes must be correct; all material figures must be correct; unsupported material claims must be zero. The scorecard must define ten metrics with owners and responses. The deployment plan must contain four stages, and rollback must restore the manual process. Any failed high-risk case must produce a NO GO decision and an owned defect.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Deploying and Governing Financial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LO4: govern finance agents with security, access, accountability, audit evidence and incident controls</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LO4: evaluate, monitor and deploy finance agents through staged releases with measurable gates and rollback</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Design the Agent</a:t>
            </a:r>
          </a:p>
          <a:p>
            <a:pPr algn="l">
              <a:spcAft>
                <a:spcPts val="300"/>
              </a:spcAft>
            </a:pPr>
            <a:r>
              <a:rPr sz="1300" b="0">
                <a:solidFill>
                  <a:srgbClr val="5B6372"/>
                </a:solidFill>
                <a:latin typeface="Arial"/>
              </a:rPr>
              <a:t>Design a bounded finance agent with clear instructions, approved data connections, tool permissions and human review points.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Automate Workflows</a:t>
            </a:r>
          </a:p>
          <a:p>
            <a:pPr algn="l">
              <a:spcAft>
                <a:spcPts val="300"/>
              </a:spcAft>
            </a:pPr>
            <a:r>
              <a:rPr sz="1300" b="0">
                <a:solidFill>
                  <a:srgbClr val="5B6372"/>
                </a:solidFill>
                <a:latin typeface="Arial"/>
              </a:rPr>
              <a:t>Automate reporting, reconciliation, forecasting and invoice workflows while preserving deterministic checks and human approval.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Analyse &amp; Explain</a:t>
            </a:r>
          </a:p>
          <a:p>
            <a:pPr algn="l">
              <a:spcAft>
                <a:spcPts val="300"/>
              </a:spcAft>
            </a:pPr>
            <a:r>
              <a:rPr sz="1300" b="0">
                <a:solidFill>
                  <a:srgbClr val="5B6372"/>
                </a:solidFill>
                <a:latin typeface="Arial"/>
              </a:rPr>
              <a:t>Produce traceable financial analysis, scenarios, recommendations and visualisations from verified data.</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Deploy &amp; Govern</a:t>
            </a:r>
          </a:p>
          <a:p>
            <a:pPr algn="l">
              <a:spcAft>
                <a:spcPts val="300"/>
              </a:spcAft>
            </a:pPr>
            <a:r>
              <a:rPr sz="1300" b="0">
                <a:solidFill>
                  <a:srgbClr val="5B6372"/>
                </a:solidFill>
                <a:latin typeface="Arial"/>
              </a:rPr>
              <a:t>Deploy and govern finance agents with security, auditability, evaluation, monitoring and scalable operating controls.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Continue with a Read-Only 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Choose one bounded finance workflow with an accountable owner and reconciled source.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Create a prompt contract, tool-risk register and ten-case evaluation set.</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Run in shadow mode, compare with the approved process and capture every correction.</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Expand only when quality, control, support and rollback thresholds are met.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Keep your downloaded C057 course files and use the lab checkpoints to restart safely.</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C057 · KEEP FINANCIAL TRUTH HUMAN-OWNED</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design, test and govern finance agents that keep data, calculations, exceptions and decisions traceable.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Finance  ·  C057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